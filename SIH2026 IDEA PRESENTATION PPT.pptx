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21"/>
            <a:ext cx="12189714" cy="4792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4762"/>
            <a:ext cx="12192000" cy="503555"/>
          </a:xfrm>
          <a:custGeom>
            <a:avLst/>
            <a:gdLst/>
            <a:ahLst/>
            <a:cxnLst/>
            <a:rect l="l" t="t" r="r" b="b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152" y="153161"/>
            <a:ext cx="8099043" cy="705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8533" y="1671269"/>
            <a:ext cx="9756140" cy="3072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26177" y="6464909"/>
            <a:ext cx="20472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5770" y="6464909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4.png"/><Relationship Id="rId7" Type="http://schemas.openxmlformats.org/officeDocument/2006/relationships/image" Target="../media/image1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3.jpeg"/><Relationship Id="rId5" Type="http://schemas.openxmlformats.org/officeDocument/2006/relationships/image" Target="../media/image9.jp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Nle64CI2VRtJEUTci" TargetMode="External"/><Relationship Id="rId2" Type="http://schemas.openxmlformats.org/officeDocument/2006/relationships/hyperlink" Target="https://www.researchgate.net/publication/43554785_Effects_of_milk_preservation_using_the_lactoperoxidase_system_on_processed_yoghurt_and_cheese_qual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6770" y="851535"/>
            <a:ext cx="4638675" cy="5155565"/>
            <a:chOff x="5656770" y="851535"/>
            <a:chExt cx="4638675" cy="5155565"/>
          </a:xfrm>
        </p:grpSpPr>
        <p:sp>
          <p:nvSpPr>
            <p:cNvPr id="3" name="object 3"/>
            <p:cNvSpPr/>
            <p:nvPr/>
          </p:nvSpPr>
          <p:spPr>
            <a:xfrm>
              <a:off x="5656770" y="851535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1873313" y="0"/>
                  </a:moveTo>
                  <a:lnTo>
                    <a:pt x="1180020" y="0"/>
                  </a:lnTo>
                  <a:lnTo>
                    <a:pt x="1147349" y="5788"/>
                  </a:lnTo>
                  <a:lnTo>
                    <a:pt x="1092152" y="48702"/>
                  </a:lnTo>
                  <a:lnTo>
                    <a:pt x="1072197" y="83565"/>
                  </a:lnTo>
                  <a:lnTo>
                    <a:pt x="726249" y="881126"/>
                  </a:lnTo>
                  <a:lnTo>
                    <a:pt x="713605" y="920626"/>
                  </a:lnTo>
                  <a:lnTo>
                    <a:pt x="709390" y="962723"/>
                  </a:lnTo>
                  <a:lnTo>
                    <a:pt x="713605" y="1004820"/>
                  </a:lnTo>
                  <a:lnTo>
                    <a:pt x="726249" y="1044320"/>
                  </a:lnTo>
                  <a:lnTo>
                    <a:pt x="1072197" y="1842007"/>
                  </a:lnTo>
                  <a:lnTo>
                    <a:pt x="1092168" y="1876837"/>
                  </a:lnTo>
                  <a:lnTo>
                    <a:pt x="1118552" y="1903602"/>
                  </a:lnTo>
                  <a:lnTo>
                    <a:pt x="786955" y="2668269"/>
                  </a:lnTo>
                  <a:lnTo>
                    <a:pt x="769411" y="2714122"/>
                  </a:lnTo>
                  <a:lnTo>
                    <a:pt x="756880" y="2762295"/>
                  </a:lnTo>
                  <a:lnTo>
                    <a:pt x="749361" y="2812013"/>
                  </a:lnTo>
                  <a:lnTo>
                    <a:pt x="746855" y="2862500"/>
                  </a:lnTo>
                  <a:lnTo>
                    <a:pt x="749361" y="2912981"/>
                  </a:lnTo>
                  <a:lnTo>
                    <a:pt x="756880" y="2962681"/>
                  </a:lnTo>
                  <a:lnTo>
                    <a:pt x="769411" y="3010824"/>
                  </a:lnTo>
                  <a:lnTo>
                    <a:pt x="786955" y="3056636"/>
                  </a:lnTo>
                  <a:lnTo>
                    <a:pt x="1610550" y="4956022"/>
                  </a:lnTo>
                  <a:lnTo>
                    <a:pt x="1635991" y="5005818"/>
                  </a:lnTo>
                  <a:lnTo>
                    <a:pt x="1666114" y="5049317"/>
                  </a:lnTo>
                  <a:lnTo>
                    <a:pt x="1700357" y="5086022"/>
                  </a:lnTo>
                  <a:lnTo>
                    <a:pt x="1738162" y="5115434"/>
                  </a:lnTo>
                  <a:lnTo>
                    <a:pt x="1778968" y="5137059"/>
                  </a:lnTo>
                  <a:lnTo>
                    <a:pt x="1822215" y="5150398"/>
                  </a:lnTo>
                  <a:lnTo>
                    <a:pt x="1867344" y="5154955"/>
                  </a:lnTo>
                  <a:lnTo>
                    <a:pt x="3518090" y="5154955"/>
                  </a:lnTo>
                  <a:lnTo>
                    <a:pt x="3562089" y="5150398"/>
                  </a:lnTo>
                  <a:lnTo>
                    <a:pt x="3604828" y="5137059"/>
                  </a:lnTo>
                  <a:lnTo>
                    <a:pt x="3645500" y="5115434"/>
                  </a:lnTo>
                  <a:lnTo>
                    <a:pt x="3683294" y="5086022"/>
                  </a:lnTo>
                  <a:lnTo>
                    <a:pt x="3717402" y="5049317"/>
                  </a:lnTo>
                  <a:lnTo>
                    <a:pt x="3747017" y="5005818"/>
                  </a:lnTo>
                  <a:lnTo>
                    <a:pt x="3771328" y="4956022"/>
                  </a:lnTo>
                  <a:lnTo>
                    <a:pt x="4598479" y="3056635"/>
                  </a:lnTo>
                  <a:lnTo>
                    <a:pt x="4616023" y="3010824"/>
                  </a:lnTo>
                  <a:lnTo>
                    <a:pt x="4628554" y="2962681"/>
                  </a:lnTo>
                  <a:lnTo>
                    <a:pt x="4636073" y="2912981"/>
                  </a:lnTo>
                  <a:lnTo>
                    <a:pt x="4638579" y="2862500"/>
                  </a:lnTo>
                  <a:lnTo>
                    <a:pt x="4636073" y="2812013"/>
                  </a:lnTo>
                  <a:lnTo>
                    <a:pt x="4628554" y="2762295"/>
                  </a:lnTo>
                  <a:lnTo>
                    <a:pt x="4616023" y="2714122"/>
                  </a:lnTo>
                  <a:lnTo>
                    <a:pt x="4598479" y="2668269"/>
                  </a:lnTo>
                  <a:lnTo>
                    <a:pt x="4270937" y="1916176"/>
                  </a:lnTo>
                  <a:lnTo>
                    <a:pt x="1176972" y="1916176"/>
                  </a:lnTo>
                  <a:lnTo>
                    <a:pt x="1168640" y="1915798"/>
                  </a:lnTo>
                  <a:lnTo>
                    <a:pt x="1160414" y="1914683"/>
                  </a:lnTo>
                  <a:lnTo>
                    <a:pt x="1152308" y="1912854"/>
                  </a:lnTo>
                  <a:lnTo>
                    <a:pt x="1144503" y="1910387"/>
                  </a:lnTo>
                  <a:lnTo>
                    <a:pt x="1125029" y="1899539"/>
                  </a:lnTo>
                  <a:lnTo>
                    <a:pt x="1143698" y="1856739"/>
                  </a:lnTo>
                  <a:lnTo>
                    <a:pt x="1168717" y="1798954"/>
                  </a:lnTo>
                  <a:lnTo>
                    <a:pt x="1131925" y="1758499"/>
                  </a:lnTo>
                  <a:lnTo>
                    <a:pt x="817054" y="1035050"/>
                  </a:lnTo>
                  <a:lnTo>
                    <a:pt x="802100" y="962723"/>
                  </a:lnTo>
                  <a:lnTo>
                    <a:pt x="805838" y="925393"/>
                  </a:lnTo>
                  <a:lnTo>
                    <a:pt x="1123759" y="183261"/>
                  </a:lnTo>
                  <a:lnTo>
                    <a:pt x="1164034" y="129047"/>
                  </a:lnTo>
                  <a:lnTo>
                    <a:pt x="1219263" y="109219"/>
                  </a:lnTo>
                  <a:lnTo>
                    <a:pt x="1990783" y="109219"/>
                  </a:lnTo>
                  <a:lnTo>
                    <a:pt x="1979612" y="83565"/>
                  </a:lnTo>
                  <a:lnTo>
                    <a:pt x="1960252" y="48702"/>
                  </a:lnTo>
                  <a:lnTo>
                    <a:pt x="1934845" y="22399"/>
                  </a:lnTo>
                  <a:lnTo>
                    <a:pt x="1905246" y="5788"/>
                  </a:lnTo>
                  <a:lnTo>
                    <a:pt x="1873313" y="0"/>
                  </a:lnTo>
                  <a:close/>
                </a:path>
                <a:path w="4638675" h="5155565">
                  <a:moveTo>
                    <a:pt x="673671" y="3125216"/>
                  </a:moveTo>
                  <a:lnTo>
                    <a:pt x="272351" y="3125216"/>
                  </a:lnTo>
                  <a:lnTo>
                    <a:pt x="253499" y="3128559"/>
                  </a:lnTo>
                  <a:lnTo>
                    <a:pt x="221559" y="3153344"/>
                  </a:lnTo>
                  <a:lnTo>
                    <a:pt x="9715" y="3635248"/>
                  </a:lnTo>
                  <a:lnTo>
                    <a:pt x="0" y="3682491"/>
                  </a:lnTo>
                  <a:lnTo>
                    <a:pt x="2428" y="3706864"/>
                  </a:lnTo>
                  <a:lnTo>
                    <a:pt x="209994" y="4191380"/>
                  </a:lnTo>
                  <a:lnTo>
                    <a:pt x="236315" y="4226814"/>
                  </a:lnTo>
                  <a:lnTo>
                    <a:pt x="272351" y="4239768"/>
                  </a:lnTo>
                  <a:lnTo>
                    <a:pt x="673671" y="4239768"/>
                  </a:lnTo>
                  <a:lnTo>
                    <a:pt x="724034" y="4211585"/>
                  </a:lnTo>
                  <a:lnTo>
                    <a:pt x="936307" y="3729735"/>
                  </a:lnTo>
                  <a:lnTo>
                    <a:pt x="946118" y="3682491"/>
                  </a:lnTo>
                  <a:lnTo>
                    <a:pt x="943665" y="3658119"/>
                  </a:lnTo>
                  <a:lnTo>
                    <a:pt x="735266" y="3173476"/>
                  </a:lnTo>
                  <a:lnTo>
                    <a:pt x="709326" y="3138154"/>
                  </a:lnTo>
                  <a:lnTo>
                    <a:pt x="673671" y="3125216"/>
                  </a:lnTo>
                  <a:close/>
                </a:path>
                <a:path w="4638675" h="5155565">
                  <a:moveTo>
                    <a:pt x="3518090" y="569976"/>
                  </a:moveTo>
                  <a:lnTo>
                    <a:pt x="2192591" y="569976"/>
                  </a:lnTo>
                  <a:lnTo>
                    <a:pt x="2324036" y="871854"/>
                  </a:lnTo>
                  <a:lnTo>
                    <a:pt x="2336680" y="911353"/>
                  </a:lnTo>
                  <a:lnTo>
                    <a:pt x="2340895" y="953436"/>
                  </a:lnTo>
                  <a:lnTo>
                    <a:pt x="2336680" y="995495"/>
                  </a:lnTo>
                  <a:lnTo>
                    <a:pt x="2323981" y="1035050"/>
                  </a:lnTo>
                  <a:lnTo>
                    <a:pt x="1976691" y="1832610"/>
                  </a:lnTo>
                  <a:lnTo>
                    <a:pt x="1957276" y="1867473"/>
                  </a:lnTo>
                  <a:lnTo>
                    <a:pt x="1902253" y="1910387"/>
                  </a:lnTo>
                  <a:lnTo>
                    <a:pt x="1870265" y="1916176"/>
                  </a:lnTo>
                  <a:lnTo>
                    <a:pt x="4270937" y="1916176"/>
                  </a:lnTo>
                  <a:lnTo>
                    <a:pt x="3771328" y="768985"/>
                  </a:lnTo>
                  <a:lnTo>
                    <a:pt x="3747017" y="719172"/>
                  </a:lnTo>
                  <a:lnTo>
                    <a:pt x="3717402" y="675658"/>
                  </a:lnTo>
                  <a:lnTo>
                    <a:pt x="3683294" y="638939"/>
                  </a:lnTo>
                  <a:lnTo>
                    <a:pt x="3645500" y="609514"/>
                  </a:lnTo>
                  <a:lnTo>
                    <a:pt x="3604828" y="587880"/>
                  </a:lnTo>
                  <a:lnTo>
                    <a:pt x="3562089" y="574535"/>
                  </a:lnTo>
                  <a:lnTo>
                    <a:pt x="3518090" y="569976"/>
                  </a:lnTo>
                  <a:close/>
                </a:path>
                <a:path w="4638675" h="5155565">
                  <a:moveTo>
                    <a:pt x="2097722" y="569976"/>
                  </a:moveTo>
                  <a:lnTo>
                    <a:pt x="1867344" y="569976"/>
                  </a:lnTo>
                  <a:lnTo>
                    <a:pt x="1822215" y="574535"/>
                  </a:lnTo>
                  <a:lnTo>
                    <a:pt x="1778968" y="587880"/>
                  </a:lnTo>
                  <a:lnTo>
                    <a:pt x="1738162" y="609514"/>
                  </a:lnTo>
                  <a:lnTo>
                    <a:pt x="1700357" y="638939"/>
                  </a:lnTo>
                  <a:lnTo>
                    <a:pt x="1666114" y="675658"/>
                  </a:lnTo>
                  <a:lnTo>
                    <a:pt x="1635991" y="719172"/>
                  </a:lnTo>
                  <a:lnTo>
                    <a:pt x="1610550" y="768985"/>
                  </a:lnTo>
                  <a:lnTo>
                    <a:pt x="1179639" y="1762632"/>
                  </a:lnTo>
                  <a:lnTo>
                    <a:pt x="1167574" y="1790700"/>
                  </a:lnTo>
                  <a:lnTo>
                    <a:pt x="1187590" y="1801814"/>
                  </a:lnTo>
                  <a:lnTo>
                    <a:pt x="1194429" y="1804009"/>
                  </a:lnTo>
                  <a:lnTo>
                    <a:pt x="1201626" y="1805638"/>
                  </a:lnTo>
                  <a:lnTo>
                    <a:pt x="1208942" y="1806624"/>
                  </a:lnTo>
                  <a:lnTo>
                    <a:pt x="1216342" y="1806955"/>
                  </a:lnTo>
                  <a:lnTo>
                    <a:pt x="1831022" y="1806955"/>
                  </a:lnTo>
                  <a:lnTo>
                    <a:pt x="1885568" y="1787064"/>
                  </a:lnTo>
                  <a:lnTo>
                    <a:pt x="1925256" y="1732788"/>
                  </a:lnTo>
                  <a:lnTo>
                    <a:pt x="2233231" y="1025651"/>
                  </a:lnTo>
                  <a:lnTo>
                    <a:pt x="2248180" y="953436"/>
                  </a:lnTo>
                  <a:lnTo>
                    <a:pt x="2244447" y="916102"/>
                  </a:lnTo>
                  <a:lnTo>
                    <a:pt x="2233231" y="881126"/>
                  </a:lnTo>
                  <a:lnTo>
                    <a:pt x="2097722" y="569976"/>
                  </a:lnTo>
                  <a:close/>
                </a:path>
                <a:path w="4638675" h="5155565">
                  <a:moveTo>
                    <a:pt x="1990783" y="109219"/>
                  </a:moveTo>
                  <a:lnTo>
                    <a:pt x="1833943" y="109219"/>
                  </a:lnTo>
                  <a:lnTo>
                    <a:pt x="1862294" y="114341"/>
                  </a:lnTo>
                  <a:lnTo>
                    <a:pt x="1888537" y="129047"/>
                  </a:lnTo>
                  <a:lnTo>
                    <a:pt x="1911042" y="152350"/>
                  </a:lnTo>
                  <a:lnTo>
                    <a:pt x="1928177" y="183261"/>
                  </a:lnTo>
                  <a:lnTo>
                    <a:pt x="2092134" y="559688"/>
                  </a:lnTo>
                  <a:lnTo>
                    <a:pt x="2187003" y="559688"/>
                  </a:lnTo>
                  <a:lnTo>
                    <a:pt x="1990783" y="109219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5897"/>
              <a:ext cx="3203448" cy="342620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70152" y="153161"/>
            <a:ext cx="8083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1F487C"/>
                </a:solidFill>
              </a:rPr>
              <a:t>SMART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90" dirty="0">
                <a:solidFill>
                  <a:srgbClr val="1F487C"/>
                </a:solidFill>
              </a:rPr>
              <a:t>INDIA</a:t>
            </a:r>
            <a:r>
              <a:rPr sz="4000" spc="-1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HACKATHON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-55" dirty="0">
                <a:solidFill>
                  <a:srgbClr val="1F487C"/>
                </a:solidFill>
              </a:rPr>
              <a:t>202</a:t>
            </a:r>
            <a:r>
              <a:rPr lang="en-US" sz="4000" spc="-55" dirty="0">
                <a:solidFill>
                  <a:srgbClr val="1F487C"/>
                </a:solidFill>
              </a:rPr>
              <a:t>6</a:t>
            </a:r>
            <a:endParaRPr sz="4000" dirty="0"/>
          </a:p>
        </p:txBody>
      </p:sp>
      <p:sp>
        <p:nvSpPr>
          <p:cNvPr id="6" name="object 6"/>
          <p:cNvSpPr txBox="1"/>
          <p:nvPr/>
        </p:nvSpPr>
        <p:spPr>
          <a:xfrm>
            <a:off x="410057" y="1253489"/>
            <a:ext cx="6536690" cy="49814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79850">
              <a:lnSpc>
                <a:spcPct val="100000"/>
              </a:lnSpc>
              <a:spcBef>
                <a:spcPts val="10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860"/>
              </a:spcBef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Arial"/>
                <a:cs typeface="Arial"/>
              </a:rPr>
              <a:t>Problem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Statement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ID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–</a:t>
            </a:r>
            <a:r>
              <a:rPr lang="en-US" sz="2000" b="1" spc="-25" dirty="0">
                <a:latin typeface="Arial"/>
                <a:cs typeface="Arial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SIH26110</a:t>
            </a:r>
            <a:endParaRPr sz="2000" dirty="0">
              <a:latin typeface="Calibri"/>
              <a:cs typeface="Calibri"/>
            </a:endParaRPr>
          </a:p>
          <a:p>
            <a:pPr marL="297180" marR="5080" indent="-285115">
              <a:lnSpc>
                <a:spcPct val="200000"/>
              </a:lnSpc>
              <a:buFont typeface="Arial MT"/>
              <a:buChar char="•"/>
              <a:tabLst>
                <a:tab pos="299085" algn="l"/>
                <a:tab pos="1842770" algn="l"/>
                <a:tab pos="3644900" algn="l"/>
                <a:tab pos="4690110" algn="l"/>
                <a:tab pos="5752465" algn="l"/>
              </a:tabLst>
            </a:pPr>
            <a:r>
              <a:rPr sz="2000" b="1" spc="-10" dirty="0">
                <a:latin typeface="Arial"/>
                <a:cs typeface="Arial"/>
              </a:rPr>
              <a:t>Problem</a:t>
            </a:r>
            <a:r>
              <a:rPr lang="en-US" sz="2000" b="1" spc="-10" dirty="0">
                <a:latin typeface="Arial"/>
                <a:cs typeface="Arial"/>
              </a:rPr>
              <a:t>  </a:t>
            </a:r>
            <a:r>
              <a:rPr sz="2000" b="1" spc="-10" dirty="0">
                <a:latin typeface="Arial"/>
                <a:cs typeface="Arial"/>
              </a:rPr>
              <a:t>Statemen</a:t>
            </a:r>
            <a:r>
              <a:rPr lang="en-US"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Title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-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Development of a Low-Cost Light-weight Milk Chilling Can for Small –Scale Dairy Farmers</a:t>
            </a:r>
            <a:endParaRPr sz="20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Arial"/>
                <a:cs typeface="Arial"/>
              </a:rPr>
              <a:t>Theme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-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lang="en-US" sz="2000" spc="-70" dirty="0">
                <a:latin typeface="Calibri"/>
                <a:cs typeface="Calibri"/>
              </a:rPr>
              <a:t>Agriculture , Food Tech and Rural Development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Font typeface="Arial MT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dirty="0">
                <a:latin typeface="Arial"/>
                <a:cs typeface="Arial"/>
              </a:rPr>
              <a:t>PS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Category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-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Calibri"/>
                <a:cs typeface="Calibri"/>
              </a:rPr>
              <a:t>Hardwar</a:t>
            </a:r>
            <a:r>
              <a:rPr lang="en-US" sz="2000" spc="-10" dirty="0">
                <a:latin typeface="Calibri"/>
                <a:cs typeface="Calibri"/>
              </a:rPr>
              <a:t>e</a:t>
            </a:r>
            <a:endParaRPr sz="20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885"/>
              </a:spcBef>
              <a:buFont typeface="Arial MT"/>
              <a:buChar char="•"/>
              <a:tabLst>
                <a:tab pos="297815" algn="l"/>
              </a:tabLst>
            </a:pPr>
            <a:r>
              <a:rPr sz="2000" b="1" spc="-35" dirty="0">
                <a:latin typeface="Arial"/>
                <a:cs typeface="Arial"/>
              </a:rPr>
              <a:t>Team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ID</a:t>
            </a:r>
            <a:r>
              <a:rPr lang="en-US" sz="2000" b="1" spc="-2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-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0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sz="2000" b="1" spc="-35" dirty="0">
                <a:latin typeface="Arial"/>
                <a:cs typeface="Arial"/>
              </a:rPr>
              <a:t>Team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Name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-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lang="en-US" sz="2000" spc="-85" dirty="0">
                <a:latin typeface="+mn-lt"/>
                <a:cs typeface="Arial"/>
              </a:rPr>
              <a:t>CHILLFORGE</a:t>
            </a:r>
            <a:endParaRPr sz="2000" dirty="0">
              <a:latin typeface="+mn-l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9B080-3610-F88D-D022-E789371FEB4C}"/>
              </a:ext>
            </a:extLst>
          </p:cNvPr>
          <p:cNvSpPr txBox="1"/>
          <p:nvPr/>
        </p:nvSpPr>
        <p:spPr>
          <a:xfrm>
            <a:off x="1752600" y="1195628"/>
            <a:ext cx="9654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-10" dirty="0">
                <a:latin typeface="Calibri" panose="020F0502020204030204" pitchFamily="34" charset="0"/>
                <a:cs typeface="Calibri" panose="020F0502020204030204" pitchFamily="34" charset="0"/>
              </a:rPr>
              <a:t>Solar Powered PCM Assisted Portable Milk Chilling Can</a:t>
            </a:r>
            <a:endParaRPr lang="en-IN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848F9C-D035-52A0-E209-01D69BBD7B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467" y="89005"/>
            <a:ext cx="2297556" cy="1164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0" y="1343608"/>
            <a:ext cx="4000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sz="32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sz="3200" b="1" u="sng" spc="-6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https://www.sih.gov.in/img1/SIH-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433686" y="2223007"/>
            <a:ext cx="821055" cy="3416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210185">
              <a:lnSpc>
                <a:spcPts val="1160"/>
              </a:lnSpc>
              <a:spcBef>
                <a:spcPts val="275"/>
              </a:spcBef>
            </a:pPr>
            <a:r>
              <a:rPr sz="1100" spc="65" dirty="0">
                <a:solidFill>
                  <a:srgbClr val="FFFFFF"/>
                </a:solidFill>
                <a:latin typeface="Cambria"/>
                <a:cs typeface="Cambria"/>
              </a:rPr>
              <a:t>Auto-</a:t>
            </a:r>
            <a:r>
              <a:rPr sz="1100" spc="50" dirty="0">
                <a:solidFill>
                  <a:srgbClr val="FFFFFF"/>
                </a:solidFill>
                <a:latin typeface="Cambria"/>
                <a:cs typeface="Cambria"/>
              </a:rPr>
              <a:t>Segregation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24466" y="3806190"/>
            <a:ext cx="8502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65" dirty="0">
                <a:solidFill>
                  <a:srgbClr val="FFFFFF"/>
                </a:solidFill>
                <a:latin typeface="Cambria"/>
                <a:cs typeface="Cambria"/>
              </a:rPr>
              <a:t>Smart </a:t>
            </a:r>
            <a:r>
              <a:rPr sz="1100" spc="40" dirty="0">
                <a:solidFill>
                  <a:srgbClr val="FFFFFF"/>
                </a:solidFill>
                <a:latin typeface="Cambria"/>
                <a:cs typeface="Cambria"/>
              </a:rPr>
              <a:t>alerts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08363" y="5241416"/>
            <a:ext cx="672465" cy="3416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9539" marR="5080" indent="-117475">
              <a:lnSpc>
                <a:spcPts val="1160"/>
              </a:lnSpc>
              <a:spcBef>
                <a:spcPts val="275"/>
              </a:spcBef>
            </a:pPr>
            <a:r>
              <a:rPr sz="1100" spc="50" dirty="0">
                <a:solidFill>
                  <a:srgbClr val="FFFFFF"/>
                </a:solidFill>
                <a:latin typeface="Cambria"/>
                <a:cs typeface="Cambria"/>
              </a:rPr>
              <a:t>Recycling </a:t>
            </a:r>
            <a:r>
              <a:rPr sz="1100" spc="45" dirty="0">
                <a:solidFill>
                  <a:srgbClr val="FFFFFF"/>
                </a:solidFill>
                <a:latin typeface="Cambria"/>
                <a:cs typeface="Cambria"/>
              </a:rPr>
              <a:t>Ready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xfrm>
            <a:off x="0" y="76070"/>
            <a:ext cx="9433686" cy="1130951"/>
          </a:xfrm>
          <a:prstGeom prst="rect">
            <a:avLst/>
          </a:prstGeom>
        </p:spPr>
        <p:txBody>
          <a:bodyPr vert="horz" wrap="square" lIns="0" tIns="144653" rIns="0" bIns="0" rtlCol="0">
            <a:spAutoFit/>
          </a:bodyPr>
          <a:lstStyle/>
          <a:p>
            <a:pPr marL="2876550" algn="ctr">
              <a:lnSpc>
                <a:spcPct val="100000"/>
              </a:lnSpc>
              <a:spcBef>
                <a:spcPts val="100"/>
              </a:spcBef>
            </a:pPr>
            <a:r>
              <a:rPr lang="en-US" sz="3200" spc="-10" dirty="0"/>
              <a:t>Solar Powered PCM Assisted Portable Milk Chilling Can</a:t>
            </a:r>
            <a:endParaRPr sz="3200" spc="-1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748B81-CA79-6754-5BC5-D89E00DE0F6A}"/>
              </a:ext>
            </a:extLst>
          </p:cNvPr>
          <p:cNvSpPr txBox="1"/>
          <p:nvPr/>
        </p:nvSpPr>
        <p:spPr>
          <a:xfrm>
            <a:off x="979937" y="2141624"/>
            <a:ext cx="69816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 portable milk chilling can designed to help farmers keep milk fresh during collection and transportation.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It uses solar energy and a rechargeable battery to power the cooling system.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system automatically cools the milk when the temperature rises above 4°C.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PCM stores cooling energy, helping the milk stay cool even when active cooling is reduced.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Farmers can check temperature and battery status remotely through an IoT-based system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FB60D8E-98A4-948E-B437-0A3273344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913196"/>
            <a:ext cx="3610896" cy="3757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716B76-89CC-DA57-26A2-5700033D9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00" y="118112"/>
            <a:ext cx="1421921" cy="10423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0EEBA0-E0B9-7C7D-E523-5533299973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467" y="89005"/>
            <a:ext cx="2297556" cy="1164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00855"/>
            <a:ext cx="12192000" cy="457200"/>
            <a:chOff x="0" y="6400855"/>
            <a:chExt cx="12192000" cy="457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22141"/>
              <a:ext cx="12189714" cy="4335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400855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44"/>
                  </a:lnTo>
                  <a:lnTo>
                    <a:pt x="12192000" y="4571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91388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TECHNICAL</a:t>
            </a:r>
            <a:r>
              <a:rPr spc="-36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5025" y="1652142"/>
            <a:ext cx="9225915" cy="19999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400" b="1" spc="-10" dirty="0">
                <a:latin typeface="Calibri"/>
                <a:cs typeface="Calibri"/>
              </a:rPr>
              <a:t>Technologies:</a:t>
            </a:r>
            <a:endParaRPr lang="en-US" sz="2400" b="1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lang="en-IN" sz="2400" b="1" spc="-10" dirty="0">
                <a:latin typeface="Calibri"/>
                <a:cs typeface="Calibri"/>
              </a:rPr>
              <a:t>		</a:t>
            </a:r>
            <a:r>
              <a:rPr lang="en-US" sz="2400" dirty="0">
                <a:latin typeface="Calibri"/>
                <a:cs typeface="Calibri"/>
              </a:rPr>
              <a:t>ESP32,Temperature Sensor , Peltier Module , PCM , Solar Panel , Battery , IoT 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60"/>
              </a:spcBef>
              <a:tabLst>
                <a:tab pos="469265" algn="l"/>
              </a:tabLst>
            </a:pPr>
            <a:r>
              <a:rPr sz="2800" b="1" spc="-10" dirty="0">
                <a:latin typeface="Calibri"/>
                <a:cs typeface="Calibri"/>
              </a:rPr>
              <a:t>Methodology: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 descr="https://www.sih.gov.in/img1/SIH-Logo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186337" y="4320783"/>
            <a:ext cx="779145" cy="219075"/>
            <a:chOff x="4614587" y="4835316"/>
            <a:chExt cx="779145" cy="2190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4587" y="4835316"/>
              <a:ext cx="779122" cy="2186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48200" y="4838267"/>
              <a:ext cx="727710" cy="171450"/>
            </a:xfrm>
            <a:custGeom>
              <a:avLst/>
              <a:gdLst/>
              <a:ahLst/>
              <a:cxnLst/>
              <a:rect l="l" t="t" r="r" b="b"/>
              <a:pathLst>
                <a:path w="727710" h="171450">
                  <a:moveTo>
                    <a:pt x="651763" y="85586"/>
                  </a:moveTo>
                  <a:lnTo>
                    <a:pt x="565658" y="135814"/>
                  </a:lnTo>
                  <a:lnTo>
                    <a:pt x="560050" y="140793"/>
                  </a:lnTo>
                  <a:lnTo>
                    <a:pt x="556894" y="147355"/>
                  </a:lnTo>
                  <a:lnTo>
                    <a:pt x="556406" y="154656"/>
                  </a:lnTo>
                  <a:lnTo>
                    <a:pt x="558800" y="161849"/>
                  </a:lnTo>
                  <a:lnTo>
                    <a:pt x="563852" y="167475"/>
                  </a:lnTo>
                  <a:lnTo>
                    <a:pt x="570452" y="170660"/>
                  </a:lnTo>
                  <a:lnTo>
                    <a:pt x="577766" y="171154"/>
                  </a:lnTo>
                  <a:lnTo>
                    <a:pt x="584962" y="168707"/>
                  </a:lnTo>
                  <a:lnTo>
                    <a:pt x="694823" y="104572"/>
                  </a:lnTo>
                  <a:lnTo>
                    <a:pt x="689610" y="104572"/>
                  </a:lnTo>
                  <a:lnTo>
                    <a:pt x="689610" y="102032"/>
                  </a:lnTo>
                  <a:lnTo>
                    <a:pt x="679958" y="102032"/>
                  </a:lnTo>
                  <a:lnTo>
                    <a:pt x="651763" y="85586"/>
                  </a:lnTo>
                  <a:close/>
                </a:path>
                <a:path w="727710" h="171450">
                  <a:moveTo>
                    <a:pt x="618998" y="66472"/>
                  </a:moveTo>
                  <a:lnTo>
                    <a:pt x="0" y="66472"/>
                  </a:lnTo>
                  <a:lnTo>
                    <a:pt x="0" y="104572"/>
                  </a:lnTo>
                  <a:lnTo>
                    <a:pt x="619215" y="104572"/>
                  </a:lnTo>
                  <a:lnTo>
                    <a:pt x="651763" y="85586"/>
                  </a:lnTo>
                  <a:lnTo>
                    <a:pt x="618998" y="66472"/>
                  </a:lnTo>
                  <a:close/>
                </a:path>
                <a:path w="727710" h="171450">
                  <a:moveTo>
                    <a:pt x="694773" y="66472"/>
                  </a:moveTo>
                  <a:lnTo>
                    <a:pt x="689610" y="66472"/>
                  </a:lnTo>
                  <a:lnTo>
                    <a:pt x="689610" y="104572"/>
                  </a:lnTo>
                  <a:lnTo>
                    <a:pt x="694823" y="104572"/>
                  </a:lnTo>
                  <a:lnTo>
                    <a:pt x="727347" y="85586"/>
                  </a:lnTo>
                  <a:lnTo>
                    <a:pt x="727564" y="85586"/>
                  </a:lnTo>
                  <a:lnTo>
                    <a:pt x="694773" y="66472"/>
                  </a:lnTo>
                  <a:close/>
                </a:path>
                <a:path w="727710" h="171450">
                  <a:moveTo>
                    <a:pt x="679958" y="69139"/>
                  </a:moveTo>
                  <a:lnTo>
                    <a:pt x="651763" y="85586"/>
                  </a:lnTo>
                  <a:lnTo>
                    <a:pt x="679958" y="102032"/>
                  </a:lnTo>
                  <a:lnTo>
                    <a:pt x="679958" y="69139"/>
                  </a:lnTo>
                  <a:close/>
                </a:path>
                <a:path w="727710" h="171450">
                  <a:moveTo>
                    <a:pt x="689610" y="69139"/>
                  </a:moveTo>
                  <a:lnTo>
                    <a:pt x="679958" y="69139"/>
                  </a:lnTo>
                  <a:lnTo>
                    <a:pt x="679958" y="102032"/>
                  </a:lnTo>
                  <a:lnTo>
                    <a:pt x="689610" y="102032"/>
                  </a:lnTo>
                  <a:lnTo>
                    <a:pt x="689610" y="69139"/>
                  </a:lnTo>
                  <a:close/>
                </a:path>
                <a:path w="727710" h="171450">
                  <a:moveTo>
                    <a:pt x="577766" y="0"/>
                  </a:moveTo>
                  <a:lnTo>
                    <a:pt x="570452" y="464"/>
                  </a:lnTo>
                  <a:lnTo>
                    <a:pt x="563852" y="3643"/>
                  </a:lnTo>
                  <a:lnTo>
                    <a:pt x="558800" y="9322"/>
                  </a:lnTo>
                  <a:lnTo>
                    <a:pt x="556406" y="16444"/>
                  </a:lnTo>
                  <a:lnTo>
                    <a:pt x="556894" y="23721"/>
                  </a:lnTo>
                  <a:lnTo>
                    <a:pt x="560050" y="30307"/>
                  </a:lnTo>
                  <a:lnTo>
                    <a:pt x="565658" y="35357"/>
                  </a:lnTo>
                  <a:lnTo>
                    <a:pt x="651763" y="85586"/>
                  </a:lnTo>
                  <a:lnTo>
                    <a:pt x="679958" y="69139"/>
                  </a:lnTo>
                  <a:lnTo>
                    <a:pt x="689610" y="69139"/>
                  </a:lnTo>
                  <a:lnTo>
                    <a:pt x="689610" y="66472"/>
                  </a:lnTo>
                  <a:lnTo>
                    <a:pt x="694773" y="66472"/>
                  </a:lnTo>
                  <a:lnTo>
                    <a:pt x="584962" y="2464"/>
                  </a:lnTo>
                  <a:lnTo>
                    <a:pt x="5777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9B84C22-200B-FCE5-3416-C5B8339442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6" y="3666019"/>
            <a:ext cx="1843084" cy="163597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10DB46C-FCB7-76D9-79EC-8E4AA43BAA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200" y="3857207"/>
            <a:ext cx="1690684" cy="134865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FC94E3D-808E-B7D2-7FA3-6C70A33837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089" y="3829192"/>
            <a:ext cx="1834838" cy="142046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170438B-61F2-278D-EFF5-ACD41987079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765" y="3365859"/>
            <a:ext cx="1531156" cy="186451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2C4AC96-615C-2F43-2DF4-1D3B214B95D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759" y="3578433"/>
            <a:ext cx="1514577" cy="1416862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132073F0-F40F-2018-F825-FBAB864E3E0E}"/>
              </a:ext>
            </a:extLst>
          </p:cNvPr>
          <p:cNvSpPr txBox="1"/>
          <p:nvPr/>
        </p:nvSpPr>
        <p:spPr>
          <a:xfrm>
            <a:off x="136550" y="5301995"/>
            <a:ext cx="1581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 Power Generation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D5FBC4-83D7-FC6D-4D2F-24C861E1A695}"/>
              </a:ext>
            </a:extLst>
          </p:cNvPr>
          <p:cNvSpPr txBox="1"/>
          <p:nvPr/>
        </p:nvSpPr>
        <p:spPr>
          <a:xfrm>
            <a:off x="2477200" y="5324737"/>
            <a:ext cx="1476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ESP32 Data Acquisition</a:t>
            </a:r>
            <a:endParaRPr lang="en-I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759905-B7C9-EF5C-D91E-DE3216138602}"/>
              </a:ext>
            </a:extLst>
          </p:cNvPr>
          <p:cNvSpPr txBox="1"/>
          <p:nvPr/>
        </p:nvSpPr>
        <p:spPr>
          <a:xfrm>
            <a:off x="5288592" y="5440494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Peltier Cooling</a:t>
            </a:r>
            <a:endParaRPr lang="en-I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C328AE-E707-8CE0-DCA2-0B36FAE85BA9}"/>
              </a:ext>
            </a:extLst>
          </p:cNvPr>
          <p:cNvSpPr txBox="1"/>
          <p:nvPr/>
        </p:nvSpPr>
        <p:spPr>
          <a:xfrm>
            <a:off x="7546543" y="5463236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PCM Thermal Storage</a:t>
            </a:r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E9BE11-8952-3C66-E50D-954B2185069C}"/>
              </a:ext>
            </a:extLst>
          </p:cNvPr>
          <p:cNvSpPr txBox="1"/>
          <p:nvPr/>
        </p:nvSpPr>
        <p:spPr>
          <a:xfrm>
            <a:off x="10142685" y="5374909"/>
            <a:ext cx="1825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IoT Monitoring &amp; Alert Delivery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048B774-30BE-BF4E-2DF2-D26811D33B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000" y="118112"/>
            <a:ext cx="1421921" cy="1042327"/>
          </a:xfrm>
          <a:prstGeom prst="rect">
            <a:avLst/>
          </a:prstGeom>
        </p:spPr>
      </p:pic>
      <p:grpSp>
        <p:nvGrpSpPr>
          <p:cNvPr id="22" name="object 10">
            <a:extLst>
              <a:ext uri="{FF2B5EF4-FFF2-40B4-BE49-F238E27FC236}">
                <a16:creationId xmlns:a16="http://schemas.microsoft.com/office/drawing/2014/main" id="{045CC195-B6A7-391F-365F-0B7555217E0A}"/>
              </a:ext>
            </a:extLst>
          </p:cNvPr>
          <p:cNvGrpSpPr/>
          <p:nvPr/>
        </p:nvGrpSpPr>
        <p:grpSpPr>
          <a:xfrm>
            <a:off x="1636986" y="4332155"/>
            <a:ext cx="779145" cy="219075"/>
            <a:chOff x="4614587" y="4835316"/>
            <a:chExt cx="779145" cy="219075"/>
          </a:xfrm>
        </p:grpSpPr>
        <p:pic>
          <p:nvPicPr>
            <p:cNvPr id="23" name="object 11">
              <a:extLst>
                <a:ext uri="{FF2B5EF4-FFF2-40B4-BE49-F238E27FC236}">
                  <a16:creationId xmlns:a16="http://schemas.microsoft.com/office/drawing/2014/main" id="{1B1E7C50-8002-B657-C744-2081768D2D8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4587" y="4835316"/>
              <a:ext cx="779122" cy="218640"/>
            </a:xfrm>
            <a:prstGeom prst="rect">
              <a:avLst/>
            </a:prstGeom>
          </p:spPr>
        </p:pic>
        <p:sp>
          <p:nvSpPr>
            <p:cNvPr id="24" name="object 12">
              <a:extLst>
                <a:ext uri="{FF2B5EF4-FFF2-40B4-BE49-F238E27FC236}">
                  <a16:creationId xmlns:a16="http://schemas.microsoft.com/office/drawing/2014/main" id="{4FB2B3AD-6741-D595-76A4-D65539CF0C1E}"/>
                </a:ext>
              </a:extLst>
            </p:cNvPr>
            <p:cNvSpPr/>
            <p:nvPr/>
          </p:nvSpPr>
          <p:spPr>
            <a:xfrm>
              <a:off x="4648200" y="4838267"/>
              <a:ext cx="727710" cy="171450"/>
            </a:xfrm>
            <a:custGeom>
              <a:avLst/>
              <a:gdLst/>
              <a:ahLst/>
              <a:cxnLst/>
              <a:rect l="l" t="t" r="r" b="b"/>
              <a:pathLst>
                <a:path w="727710" h="171450">
                  <a:moveTo>
                    <a:pt x="651763" y="85586"/>
                  </a:moveTo>
                  <a:lnTo>
                    <a:pt x="565658" y="135814"/>
                  </a:lnTo>
                  <a:lnTo>
                    <a:pt x="560050" y="140793"/>
                  </a:lnTo>
                  <a:lnTo>
                    <a:pt x="556894" y="147355"/>
                  </a:lnTo>
                  <a:lnTo>
                    <a:pt x="556406" y="154656"/>
                  </a:lnTo>
                  <a:lnTo>
                    <a:pt x="558800" y="161849"/>
                  </a:lnTo>
                  <a:lnTo>
                    <a:pt x="563852" y="167475"/>
                  </a:lnTo>
                  <a:lnTo>
                    <a:pt x="570452" y="170660"/>
                  </a:lnTo>
                  <a:lnTo>
                    <a:pt x="577766" y="171154"/>
                  </a:lnTo>
                  <a:lnTo>
                    <a:pt x="584962" y="168707"/>
                  </a:lnTo>
                  <a:lnTo>
                    <a:pt x="694823" y="104572"/>
                  </a:lnTo>
                  <a:lnTo>
                    <a:pt x="689610" y="104572"/>
                  </a:lnTo>
                  <a:lnTo>
                    <a:pt x="689610" y="102032"/>
                  </a:lnTo>
                  <a:lnTo>
                    <a:pt x="679958" y="102032"/>
                  </a:lnTo>
                  <a:lnTo>
                    <a:pt x="651763" y="85586"/>
                  </a:lnTo>
                  <a:close/>
                </a:path>
                <a:path w="727710" h="171450">
                  <a:moveTo>
                    <a:pt x="618998" y="66472"/>
                  </a:moveTo>
                  <a:lnTo>
                    <a:pt x="0" y="66472"/>
                  </a:lnTo>
                  <a:lnTo>
                    <a:pt x="0" y="104572"/>
                  </a:lnTo>
                  <a:lnTo>
                    <a:pt x="619215" y="104572"/>
                  </a:lnTo>
                  <a:lnTo>
                    <a:pt x="651763" y="85586"/>
                  </a:lnTo>
                  <a:lnTo>
                    <a:pt x="618998" y="66472"/>
                  </a:lnTo>
                  <a:close/>
                </a:path>
                <a:path w="727710" h="171450">
                  <a:moveTo>
                    <a:pt x="694773" y="66472"/>
                  </a:moveTo>
                  <a:lnTo>
                    <a:pt x="689610" y="66472"/>
                  </a:lnTo>
                  <a:lnTo>
                    <a:pt x="689610" y="104572"/>
                  </a:lnTo>
                  <a:lnTo>
                    <a:pt x="694823" y="104572"/>
                  </a:lnTo>
                  <a:lnTo>
                    <a:pt x="727347" y="85586"/>
                  </a:lnTo>
                  <a:lnTo>
                    <a:pt x="727564" y="85586"/>
                  </a:lnTo>
                  <a:lnTo>
                    <a:pt x="694773" y="66472"/>
                  </a:lnTo>
                  <a:close/>
                </a:path>
                <a:path w="727710" h="171450">
                  <a:moveTo>
                    <a:pt x="679958" y="69139"/>
                  </a:moveTo>
                  <a:lnTo>
                    <a:pt x="651763" y="85586"/>
                  </a:lnTo>
                  <a:lnTo>
                    <a:pt x="679958" y="102032"/>
                  </a:lnTo>
                  <a:lnTo>
                    <a:pt x="679958" y="69139"/>
                  </a:lnTo>
                  <a:close/>
                </a:path>
                <a:path w="727710" h="171450">
                  <a:moveTo>
                    <a:pt x="689610" y="69139"/>
                  </a:moveTo>
                  <a:lnTo>
                    <a:pt x="679958" y="69139"/>
                  </a:lnTo>
                  <a:lnTo>
                    <a:pt x="679958" y="102032"/>
                  </a:lnTo>
                  <a:lnTo>
                    <a:pt x="689610" y="102032"/>
                  </a:lnTo>
                  <a:lnTo>
                    <a:pt x="689610" y="69139"/>
                  </a:lnTo>
                  <a:close/>
                </a:path>
                <a:path w="727710" h="171450">
                  <a:moveTo>
                    <a:pt x="577766" y="0"/>
                  </a:moveTo>
                  <a:lnTo>
                    <a:pt x="570452" y="464"/>
                  </a:lnTo>
                  <a:lnTo>
                    <a:pt x="563852" y="3643"/>
                  </a:lnTo>
                  <a:lnTo>
                    <a:pt x="558800" y="9322"/>
                  </a:lnTo>
                  <a:lnTo>
                    <a:pt x="556406" y="16444"/>
                  </a:lnTo>
                  <a:lnTo>
                    <a:pt x="556894" y="23721"/>
                  </a:lnTo>
                  <a:lnTo>
                    <a:pt x="560050" y="30307"/>
                  </a:lnTo>
                  <a:lnTo>
                    <a:pt x="565658" y="35357"/>
                  </a:lnTo>
                  <a:lnTo>
                    <a:pt x="651763" y="85586"/>
                  </a:lnTo>
                  <a:lnTo>
                    <a:pt x="679958" y="69139"/>
                  </a:lnTo>
                  <a:lnTo>
                    <a:pt x="689610" y="69139"/>
                  </a:lnTo>
                  <a:lnTo>
                    <a:pt x="689610" y="66472"/>
                  </a:lnTo>
                  <a:lnTo>
                    <a:pt x="694773" y="66472"/>
                  </a:lnTo>
                  <a:lnTo>
                    <a:pt x="584962" y="2464"/>
                  </a:lnTo>
                  <a:lnTo>
                    <a:pt x="5777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10">
            <a:extLst>
              <a:ext uri="{FF2B5EF4-FFF2-40B4-BE49-F238E27FC236}">
                <a16:creationId xmlns:a16="http://schemas.microsoft.com/office/drawing/2014/main" id="{D208F20D-D682-B90B-AC73-6C6151E5D660}"/>
              </a:ext>
            </a:extLst>
          </p:cNvPr>
          <p:cNvGrpSpPr/>
          <p:nvPr/>
        </p:nvGrpSpPr>
        <p:grpSpPr>
          <a:xfrm>
            <a:off x="6883844" y="4309412"/>
            <a:ext cx="779145" cy="219075"/>
            <a:chOff x="4614587" y="4835316"/>
            <a:chExt cx="779145" cy="219075"/>
          </a:xfrm>
        </p:grpSpPr>
        <p:pic>
          <p:nvPicPr>
            <p:cNvPr id="26" name="object 11">
              <a:extLst>
                <a:ext uri="{FF2B5EF4-FFF2-40B4-BE49-F238E27FC236}">
                  <a16:creationId xmlns:a16="http://schemas.microsoft.com/office/drawing/2014/main" id="{19BEA76C-8DA8-CB9F-1F21-4B5D69AECD0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4587" y="4835316"/>
              <a:ext cx="779122" cy="218640"/>
            </a:xfrm>
            <a:prstGeom prst="rect">
              <a:avLst/>
            </a:prstGeom>
          </p:spPr>
        </p:pic>
        <p:sp>
          <p:nvSpPr>
            <p:cNvPr id="27" name="object 12">
              <a:extLst>
                <a:ext uri="{FF2B5EF4-FFF2-40B4-BE49-F238E27FC236}">
                  <a16:creationId xmlns:a16="http://schemas.microsoft.com/office/drawing/2014/main" id="{4CF7850F-4212-48D5-F49A-1302BC0B2DF7}"/>
                </a:ext>
              </a:extLst>
            </p:cNvPr>
            <p:cNvSpPr/>
            <p:nvPr/>
          </p:nvSpPr>
          <p:spPr>
            <a:xfrm>
              <a:off x="4648200" y="4838267"/>
              <a:ext cx="727710" cy="171450"/>
            </a:xfrm>
            <a:custGeom>
              <a:avLst/>
              <a:gdLst/>
              <a:ahLst/>
              <a:cxnLst/>
              <a:rect l="l" t="t" r="r" b="b"/>
              <a:pathLst>
                <a:path w="727710" h="171450">
                  <a:moveTo>
                    <a:pt x="651763" y="85586"/>
                  </a:moveTo>
                  <a:lnTo>
                    <a:pt x="565658" y="135814"/>
                  </a:lnTo>
                  <a:lnTo>
                    <a:pt x="560050" y="140793"/>
                  </a:lnTo>
                  <a:lnTo>
                    <a:pt x="556894" y="147355"/>
                  </a:lnTo>
                  <a:lnTo>
                    <a:pt x="556406" y="154656"/>
                  </a:lnTo>
                  <a:lnTo>
                    <a:pt x="558800" y="161849"/>
                  </a:lnTo>
                  <a:lnTo>
                    <a:pt x="563852" y="167475"/>
                  </a:lnTo>
                  <a:lnTo>
                    <a:pt x="570452" y="170660"/>
                  </a:lnTo>
                  <a:lnTo>
                    <a:pt x="577766" y="171154"/>
                  </a:lnTo>
                  <a:lnTo>
                    <a:pt x="584962" y="168707"/>
                  </a:lnTo>
                  <a:lnTo>
                    <a:pt x="694823" y="104572"/>
                  </a:lnTo>
                  <a:lnTo>
                    <a:pt x="689610" y="104572"/>
                  </a:lnTo>
                  <a:lnTo>
                    <a:pt x="689610" y="102032"/>
                  </a:lnTo>
                  <a:lnTo>
                    <a:pt x="679958" y="102032"/>
                  </a:lnTo>
                  <a:lnTo>
                    <a:pt x="651763" y="85586"/>
                  </a:lnTo>
                  <a:close/>
                </a:path>
                <a:path w="727710" h="171450">
                  <a:moveTo>
                    <a:pt x="618998" y="66472"/>
                  </a:moveTo>
                  <a:lnTo>
                    <a:pt x="0" y="66472"/>
                  </a:lnTo>
                  <a:lnTo>
                    <a:pt x="0" y="104572"/>
                  </a:lnTo>
                  <a:lnTo>
                    <a:pt x="619215" y="104572"/>
                  </a:lnTo>
                  <a:lnTo>
                    <a:pt x="651763" y="85586"/>
                  </a:lnTo>
                  <a:lnTo>
                    <a:pt x="618998" y="66472"/>
                  </a:lnTo>
                  <a:close/>
                </a:path>
                <a:path w="727710" h="171450">
                  <a:moveTo>
                    <a:pt x="694773" y="66472"/>
                  </a:moveTo>
                  <a:lnTo>
                    <a:pt x="689610" y="66472"/>
                  </a:lnTo>
                  <a:lnTo>
                    <a:pt x="689610" y="104572"/>
                  </a:lnTo>
                  <a:lnTo>
                    <a:pt x="694823" y="104572"/>
                  </a:lnTo>
                  <a:lnTo>
                    <a:pt x="727347" y="85586"/>
                  </a:lnTo>
                  <a:lnTo>
                    <a:pt x="727564" y="85586"/>
                  </a:lnTo>
                  <a:lnTo>
                    <a:pt x="694773" y="66472"/>
                  </a:lnTo>
                  <a:close/>
                </a:path>
                <a:path w="727710" h="171450">
                  <a:moveTo>
                    <a:pt x="679958" y="69139"/>
                  </a:moveTo>
                  <a:lnTo>
                    <a:pt x="651763" y="85586"/>
                  </a:lnTo>
                  <a:lnTo>
                    <a:pt x="679958" y="102032"/>
                  </a:lnTo>
                  <a:lnTo>
                    <a:pt x="679958" y="69139"/>
                  </a:lnTo>
                  <a:close/>
                </a:path>
                <a:path w="727710" h="171450">
                  <a:moveTo>
                    <a:pt x="689610" y="69139"/>
                  </a:moveTo>
                  <a:lnTo>
                    <a:pt x="679958" y="69139"/>
                  </a:lnTo>
                  <a:lnTo>
                    <a:pt x="679958" y="102032"/>
                  </a:lnTo>
                  <a:lnTo>
                    <a:pt x="689610" y="102032"/>
                  </a:lnTo>
                  <a:lnTo>
                    <a:pt x="689610" y="69139"/>
                  </a:lnTo>
                  <a:close/>
                </a:path>
                <a:path w="727710" h="171450">
                  <a:moveTo>
                    <a:pt x="577766" y="0"/>
                  </a:moveTo>
                  <a:lnTo>
                    <a:pt x="570452" y="464"/>
                  </a:lnTo>
                  <a:lnTo>
                    <a:pt x="563852" y="3643"/>
                  </a:lnTo>
                  <a:lnTo>
                    <a:pt x="558800" y="9322"/>
                  </a:lnTo>
                  <a:lnTo>
                    <a:pt x="556406" y="16444"/>
                  </a:lnTo>
                  <a:lnTo>
                    <a:pt x="556894" y="23721"/>
                  </a:lnTo>
                  <a:lnTo>
                    <a:pt x="560050" y="30307"/>
                  </a:lnTo>
                  <a:lnTo>
                    <a:pt x="565658" y="35357"/>
                  </a:lnTo>
                  <a:lnTo>
                    <a:pt x="651763" y="85586"/>
                  </a:lnTo>
                  <a:lnTo>
                    <a:pt x="679958" y="69139"/>
                  </a:lnTo>
                  <a:lnTo>
                    <a:pt x="689610" y="69139"/>
                  </a:lnTo>
                  <a:lnTo>
                    <a:pt x="689610" y="66472"/>
                  </a:lnTo>
                  <a:lnTo>
                    <a:pt x="694773" y="66472"/>
                  </a:lnTo>
                  <a:lnTo>
                    <a:pt x="584962" y="2464"/>
                  </a:lnTo>
                  <a:lnTo>
                    <a:pt x="5777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10">
            <a:extLst>
              <a:ext uri="{FF2B5EF4-FFF2-40B4-BE49-F238E27FC236}">
                <a16:creationId xmlns:a16="http://schemas.microsoft.com/office/drawing/2014/main" id="{07349E3E-2B1E-705E-1E04-4A1E7EBFCEA6}"/>
              </a:ext>
            </a:extLst>
          </p:cNvPr>
          <p:cNvGrpSpPr/>
          <p:nvPr/>
        </p:nvGrpSpPr>
        <p:grpSpPr>
          <a:xfrm>
            <a:off x="9513825" y="4267807"/>
            <a:ext cx="779145" cy="219075"/>
            <a:chOff x="4614587" y="4835316"/>
            <a:chExt cx="779145" cy="219075"/>
          </a:xfrm>
        </p:grpSpPr>
        <p:pic>
          <p:nvPicPr>
            <p:cNvPr id="29" name="object 11">
              <a:extLst>
                <a:ext uri="{FF2B5EF4-FFF2-40B4-BE49-F238E27FC236}">
                  <a16:creationId xmlns:a16="http://schemas.microsoft.com/office/drawing/2014/main" id="{269FAE5F-59C5-6CE1-D43E-94FE72F8ACD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4587" y="4835316"/>
              <a:ext cx="779122" cy="218640"/>
            </a:xfrm>
            <a:prstGeom prst="rect">
              <a:avLst/>
            </a:prstGeom>
          </p:spPr>
        </p:pic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B0344227-A645-6941-F2D3-3BAC367E836E}"/>
                </a:ext>
              </a:extLst>
            </p:cNvPr>
            <p:cNvSpPr/>
            <p:nvPr/>
          </p:nvSpPr>
          <p:spPr>
            <a:xfrm>
              <a:off x="4648200" y="4838267"/>
              <a:ext cx="727710" cy="171450"/>
            </a:xfrm>
            <a:custGeom>
              <a:avLst/>
              <a:gdLst/>
              <a:ahLst/>
              <a:cxnLst/>
              <a:rect l="l" t="t" r="r" b="b"/>
              <a:pathLst>
                <a:path w="727710" h="171450">
                  <a:moveTo>
                    <a:pt x="651763" y="85586"/>
                  </a:moveTo>
                  <a:lnTo>
                    <a:pt x="565658" y="135814"/>
                  </a:lnTo>
                  <a:lnTo>
                    <a:pt x="560050" y="140793"/>
                  </a:lnTo>
                  <a:lnTo>
                    <a:pt x="556894" y="147355"/>
                  </a:lnTo>
                  <a:lnTo>
                    <a:pt x="556406" y="154656"/>
                  </a:lnTo>
                  <a:lnTo>
                    <a:pt x="558800" y="161849"/>
                  </a:lnTo>
                  <a:lnTo>
                    <a:pt x="563852" y="167475"/>
                  </a:lnTo>
                  <a:lnTo>
                    <a:pt x="570452" y="170660"/>
                  </a:lnTo>
                  <a:lnTo>
                    <a:pt x="577766" y="171154"/>
                  </a:lnTo>
                  <a:lnTo>
                    <a:pt x="584962" y="168707"/>
                  </a:lnTo>
                  <a:lnTo>
                    <a:pt x="694823" y="104572"/>
                  </a:lnTo>
                  <a:lnTo>
                    <a:pt x="689610" y="104572"/>
                  </a:lnTo>
                  <a:lnTo>
                    <a:pt x="689610" y="102032"/>
                  </a:lnTo>
                  <a:lnTo>
                    <a:pt x="679958" y="102032"/>
                  </a:lnTo>
                  <a:lnTo>
                    <a:pt x="651763" y="85586"/>
                  </a:lnTo>
                  <a:close/>
                </a:path>
                <a:path w="727710" h="171450">
                  <a:moveTo>
                    <a:pt x="618998" y="66472"/>
                  </a:moveTo>
                  <a:lnTo>
                    <a:pt x="0" y="66472"/>
                  </a:lnTo>
                  <a:lnTo>
                    <a:pt x="0" y="104572"/>
                  </a:lnTo>
                  <a:lnTo>
                    <a:pt x="619215" y="104572"/>
                  </a:lnTo>
                  <a:lnTo>
                    <a:pt x="651763" y="85586"/>
                  </a:lnTo>
                  <a:lnTo>
                    <a:pt x="618998" y="66472"/>
                  </a:lnTo>
                  <a:close/>
                </a:path>
                <a:path w="727710" h="171450">
                  <a:moveTo>
                    <a:pt x="694773" y="66472"/>
                  </a:moveTo>
                  <a:lnTo>
                    <a:pt x="689610" y="66472"/>
                  </a:lnTo>
                  <a:lnTo>
                    <a:pt x="689610" y="104572"/>
                  </a:lnTo>
                  <a:lnTo>
                    <a:pt x="694823" y="104572"/>
                  </a:lnTo>
                  <a:lnTo>
                    <a:pt x="727347" y="85586"/>
                  </a:lnTo>
                  <a:lnTo>
                    <a:pt x="727564" y="85586"/>
                  </a:lnTo>
                  <a:lnTo>
                    <a:pt x="694773" y="66472"/>
                  </a:lnTo>
                  <a:close/>
                </a:path>
                <a:path w="727710" h="171450">
                  <a:moveTo>
                    <a:pt x="679958" y="69139"/>
                  </a:moveTo>
                  <a:lnTo>
                    <a:pt x="651763" y="85586"/>
                  </a:lnTo>
                  <a:lnTo>
                    <a:pt x="679958" y="102032"/>
                  </a:lnTo>
                  <a:lnTo>
                    <a:pt x="679958" y="69139"/>
                  </a:lnTo>
                  <a:close/>
                </a:path>
                <a:path w="727710" h="171450">
                  <a:moveTo>
                    <a:pt x="689610" y="69139"/>
                  </a:moveTo>
                  <a:lnTo>
                    <a:pt x="679958" y="69139"/>
                  </a:lnTo>
                  <a:lnTo>
                    <a:pt x="679958" y="102032"/>
                  </a:lnTo>
                  <a:lnTo>
                    <a:pt x="689610" y="102032"/>
                  </a:lnTo>
                  <a:lnTo>
                    <a:pt x="689610" y="69139"/>
                  </a:lnTo>
                  <a:close/>
                </a:path>
                <a:path w="727710" h="171450">
                  <a:moveTo>
                    <a:pt x="577766" y="0"/>
                  </a:moveTo>
                  <a:lnTo>
                    <a:pt x="570452" y="464"/>
                  </a:lnTo>
                  <a:lnTo>
                    <a:pt x="563852" y="3643"/>
                  </a:lnTo>
                  <a:lnTo>
                    <a:pt x="558800" y="9322"/>
                  </a:lnTo>
                  <a:lnTo>
                    <a:pt x="556406" y="16444"/>
                  </a:lnTo>
                  <a:lnTo>
                    <a:pt x="556894" y="23721"/>
                  </a:lnTo>
                  <a:lnTo>
                    <a:pt x="560050" y="30307"/>
                  </a:lnTo>
                  <a:lnTo>
                    <a:pt x="565658" y="35357"/>
                  </a:lnTo>
                  <a:lnTo>
                    <a:pt x="651763" y="85586"/>
                  </a:lnTo>
                  <a:lnTo>
                    <a:pt x="679958" y="69139"/>
                  </a:lnTo>
                  <a:lnTo>
                    <a:pt x="689610" y="69139"/>
                  </a:lnTo>
                  <a:lnTo>
                    <a:pt x="689610" y="66472"/>
                  </a:lnTo>
                  <a:lnTo>
                    <a:pt x="694773" y="66472"/>
                  </a:lnTo>
                  <a:lnTo>
                    <a:pt x="584962" y="2464"/>
                  </a:lnTo>
                  <a:lnTo>
                    <a:pt x="5777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75A68640-2C9F-9D27-FB96-54ECAB76C84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467" y="89005"/>
            <a:ext cx="2297556" cy="1164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346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3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923668"/>
            <a:ext cx="7246620" cy="32848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Feasibility: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Simple,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low-</a:t>
            </a:r>
            <a:r>
              <a:rPr sz="2400" dirty="0">
                <a:latin typeface="Calibri"/>
                <a:cs typeface="Calibri"/>
              </a:rPr>
              <a:t>co</a:t>
            </a:r>
            <a:r>
              <a:rPr lang="en-US" sz="2400" dirty="0">
                <a:latin typeface="Calibri"/>
                <a:cs typeface="Calibri"/>
              </a:rPr>
              <a:t>st , solar-powered and portable.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65"/>
              </a:spcBef>
            </a:pPr>
            <a:r>
              <a:rPr sz="2800" b="1" spc="-10" dirty="0">
                <a:latin typeface="Calibri"/>
                <a:cs typeface="Calibri"/>
              </a:rPr>
              <a:t>Challenges: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900" algn="l"/>
              </a:tabLst>
            </a:pPr>
            <a:r>
              <a:rPr lang="en-US" sz="2400" dirty="0">
                <a:latin typeface="Calibri"/>
                <a:cs typeface="Calibri"/>
              </a:rPr>
              <a:t>Maintaining 4°C, Peltier heat, limited battery power.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60"/>
              </a:spcBef>
            </a:pPr>
            <a:r>
              <a:rPr sz="2800" b="1" spc="-10" dirty="0">
                <a:latin typeface="Calibri"/>
                <a:cs typeface="Calibri"/>
              </a:rPr>
              <a:t>Solutions: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900" algn="l"/>
              </a:tabLst>
            </a:pPr>
            <a:r>
              <a:rPr lang="en-US" sz="2400" spc="-10" dirty="0">
                <a:latin typeface="Calibri"/>
                <a:cs typeface="Calibri"/>
              </a:rPr>
              <a:t>PCM cooling, heat sink &amp; fan, insulated milk can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 descr="https://www.sih.gov.in/img1/SIH-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6F5892-8E7A-4721-FD28-366E91409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463" y="1518341"/>
            <a:ext cx="3123307" cy="4686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0DF53A-B418-46D8-2D57-FFFA25F5B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00" y="118112"/>
            <a:ext cx="1421921" cy="1042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8986FD-D51A-F115-6392-94512BB858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467" y="89005"/>
            <a:ext cx="2297556" cy="11644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991995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IMPACT</a:t>
            </a:r>
            <a:r>
              <a:rPr spc="-254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https://www.sih.gov.in/img1/SIH-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34592" y="1406397"/>
            <a:ext cx="6737808" cy="223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Impact </a:t>
            </a:r>
            <a:r>
              <a:rPr lang="en-US" sz="2400" b="1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 indent="-457200" algn="just">
              <a:lnSpc>
                <a:spcPct val="100000"/>
              </a:lnSpc>
              <a:buFont typeface="+mj-lt"/>
              <a:buAutoNum type="arabicPeriod"/>
              <a:tabLst>
                <a:tab pos="469265" algn="l"/>
              </a:tabLst>
            </a:pPr>
            <a:r>
              <a:rPr lang="en-IN" sz="2400" dirty="0">
                <a:latin typeface="Calibri"/>
                <a:cs typeface="Calibri"/>
              </a:rPr>
              <a:t>Reduces milk spoilage during transportation</a:t>
            </a:r>
          </a:p>
          <a:p>
            <a:pPr marL="469900" indent="-457200" algn="just">
              <a:lnSpc>
                <a:spcPct val="100000"/>
              </a:lnSpc>
              <a:buFont typeface="+mj-lt"/>
              <a:buAutoNum type="arabicPeriod"/>
              <a:tabLst>
                <a:tab pos="469265" algn="l"/>
              </a:tabLst>
            </a:pPr>
            <a:r>
              <a:rPr lang="en-IN" sz="2400" dirty="0">
                <a:latin typeface="Calibri"/>
                <a:cs typeface="Calibri"/>
              </a:rPr>
              <a:t>Helps maintain milk quality</a:t>
            </a:r>
          </a:p>
          <a:p>
            <a:pPr marL="469900" indent="-457200" algn="just">
              <a:lnSpc>
                <a:spcPct val="100000"/>
              </a:lnSpc>
              <a:buFont typeface="+mj-lt"/>
              <a:buAutoNum type="arabicPeriod"/>
              <a:tabLst>
                <a:tab pos="469265" algn="l"/>
              </a:tabLst>
            </a:pPr>
            <a:r>
              <a:rPr lang="en-IN" sz="2400" dirty="0">
                <a:latin typeface="Calibri"/>
                <a:cs typeface="Calibri"/>
              </a:rPr>
              <a:t>Reduces losses for small-scale farmers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b="1" spc="-10" dirty="0">
                <a:latin typeface="Calibri"/>
                <a:cs typeface="Calibri"/>
              </a:rPr>
              <a:t>Benefits</a:t>
            </a:r>
            <a:r>
              <a:rPr lang="en-US" sz="2400" b="1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958350"/>
              </p:ext>
            </p:extLst>
          </p:nvPr>
        </p:nvGraphicFramePr>
        <p:xfrm>
          <a:off x="1184490" y="4183888"/>
          <a:ext cx="10304780" cy="1682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2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705">
                <a:tc>
                  <a:txBody>
                    <a:bodyPr/>
                    <a:lstStyle/>
                    <a:p>
                      <a:pPr marR="10407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spc="-10" dirty="0">
                          <a:solidFill>
                            <a:srgbClr val="25252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Social</a:t>
                      </a:r>
                      <a:endParaRPr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Supports farmer with better milk handling</a:t>
                      </a:r>
                      <a:endParaRPr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marL="15055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Environmental</a:t>
                      </a:r>
                      <a:endParaRPr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Uses renewable solar energy</a:t>
                      </a:r>
                      <a:endParaRPr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marR="6280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spc="-1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Economic</a:t>
                      </a:r>
                      <a:endParaRPr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Reduces milk wastage &amp; income loss</a:t>
                      </a:r>
                      <a:endParaRPr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2434" y="4295271"/>
            <a:ext cx="585977" cy="48082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8411" y="4856187"/>
            <a:ext cx="589026" cy="48082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1310" y="5385181"/>
            <a:ext cx="589026" cy="48082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AF44BE-5D6E-5BD6-C477-7B0AC214D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00" y="118112"/>
            <a:ext cx="1421921" cy="10423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92EA24-EECE-6FF5-9415-7D1AB004BA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467" y="89005"/>
            <a:ext cx="2297556" cy="1164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163955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660" dirty="0"/>
              <a:t> </a:t>
            </a:r>
            <a:r>
              <a:rPr dirty="0"/>
              <a:t>AND</a:t>
            </a:r>
            <a:r>
              <a:rPr spc="-10" dirty="0"/>
              <a:t> 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01520" y="1193772"/>
            <a:ext cx="9756140" cy="446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200" spc="-10" dirty="0">
                <a:uFill>
                  <a:solidFill>
                    <a:srgbClr val="0000FF"/>
                  </a:solidFill>
                </a:uFill>
              </a:rPr>
              <a:t>Review on Thermal Energy Storage with Phase Change Materials and Applications   </a:t>
            </a:r>
            <a:r>
              <a:rPr lang="en-US" sz="2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https://www.researchgate.net/publication/222427268_Review_on_Thermal_Energy_Storage_with_Phase_Change_Materials_and_Applications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endParaRPr lang="en-US" sz="2200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200" spc="-10" dirty="0">
                <a:uFill>
                  <a:solidFill>
                    <a:srgbClr val="0000FF"/>
                  </a:solidFill>
                </a:uFill>
              </a:rPr>
              <a:t>Effects of Milk Preservation using the </a:t>
            </a:r>
            <a:r>
              <a:rPr lang="en-US" sz="2200" spc="-10" dirty="0" err="1">
                <a:uFill>
                  <a:solidFill>
                    <a:srgbClr val="0000FF"/>
                  </a:solidFill>
                </a:uFill>
              </a:rPr>
              <a:t>Lactoperoxidase</a:t>
            </a:r>
            <a:r>
              <a:rPr lang="en-US" sz="2200" spc="-10" dirty="0">
                <a:uFill>
                  <a:solidFill>
                    <a:srgbClr val="0000FF"/>
                  </a:solidFill>
                </a:uFill>
              </a:rPr>
              <a:t> System   </a:t>
            </a:r>
            <a:r>
              <a:rPr lang="en-US" sz="2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https://www.researchgate.net/publication/43554785_Effects_of_milk_preservation_using_the_lactoperoxidase_system_on_processed_yoghurt_and_cheese_quality</a:t>
            </a:r>
            <a:endParaRPr lang="en-US" sz="2200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endParaRPr lang="en-US" sz="2200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200" spc="-10" dirty="0">
                <a:uFill>
                  <a:solidFill>
                    <a:srgbClr val="0000FF"/>
                  </a:solidFill>
                </a:uFill>
              </a:rPr>
              <a:t>IoT Based Smart Agriculture System Using ESP32   </a:t>
            </a:r>
            <a:r>
              <a:rPr lang="en-US" sz="2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https://www.researchgate.net/publication/382701895_IoT_Based_Smart_Agriculture_System_Using_ESP32</a:t>
            </a:r>
            <a:endParaRPr sz="2200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 descr="https://www.sih.gov.in/img1/SIH-Logo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65767" y="118112"/>
            <a:ext cx="2160343" cy="100081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91000" y="5664227"/>
            <a:ext cx="2749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25" dirty="0">
                <a:latin typeface="Times New Roman"/>
                <a:cs typeface="Times New Roman"/>
              </a:rPr>
              <a:t>THANK</a:t>
            </a:r>
            <a:r>
              <a:rPr sz="4000" spc="5" dirty="0">
                <a:latin typeface="Times New Roman"/>
                <a:cs typeface="Times New Roman"/>
              </a:rPr>
              <a:t> </a:t>
            </a:r>
            <a:r>
              <a:rPr sz="4000" spc="-434" dirty="0">
                <a:latin typeface="Times New Roman"/>
                <a:cs typeface="Times New Roman"/>
              </a:rPr>
              <a:t>YOU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</a:t>
            </a:r>
            <a:r>
              <a:rPr spc="-5" dirty="0"/>
              <a:t>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73D310-7289-49BE-225E-85BB017CE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000" y="118112"/>
            <a:ext cx="1421921" cy="1042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E368FD-9EF0-0CBC-B391-152977D145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467" y="89005"/>
            <a:ext cx="2297556" cy="11644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428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MT</vt:lpstr>
      <vt:lpstr>Calibri</vt:lpstr>
      <vt:lpstr>Cambria</vt:lpstr>
      <vt:lpstr>Times New Roman</vt:lpstr>
      <vt:lpstr>Wingdings</vt:lpstr>
      <vt:lpstr>Office Theme</vt:lpstr>
      <vt:lpstr>SMART INDIA HACKATHON 2026</vt:lpstr>
      <vt:lpstr>Solar Powered PCM Assisted Portable Milk Chilling Can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ADMIN</cp:lastModifiedBy>
  <cp:revision>21</cp:revision>
  <dcterms:created xsi:type="dcterms:W3CDTF">2026-09-10T08:47:21Z</dcterms:created>
  <dcterms:modified xsi:type="dcterms:W3CDTF">2026-09-10T13:43:03Z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2025-09-21T00:00:00Z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2026-09-10T00:00:00Z</vt:filetime>
  </property>
  <property fmtid="{D5CDD505-2E9C-101B-9397-08002B2CF9AE}" pid="6" name="Producer">
    <vt:lpwstr>Microsoft® PowerPoint® 2021</vt:lpwstr>
  </property>
</Properties>
</file>